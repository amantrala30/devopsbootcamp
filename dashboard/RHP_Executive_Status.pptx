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54864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Radiological Health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0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4F8EF7"/>
                </a:solidFill>
              </a:rPr>
              <a:t>Modernization Initiative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F96B3"/>
                </a:solidFill>
              </a:rPr>
              <a:t>Executive Status Report  ·  FY26  ·  June 12,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520440"/>
            <a:ext cx="2560320" cy="347472"/>
          </a:xfrm>
          <a:prstGeom prst="rect">
            <a:avLst/>
          </a:prstGeom>
          <a:solidFill>
            <a:srgbClr val="784B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3529584"/>
            <a:ext cx="24871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9E0B"/>
                </a:solidFill>
              </a:rPr>
              <a:t>⬤  Overall Status: YELLOW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069080"/>
            <a:ext cx="11430000" cy="0"/>
          </a:xfrm>
          <a:prstGeom prst="line">
            <a:avLst/>
          </a:prstGeom>
          <a:ln w="6350">
            <a:solidFill>
              <a:srgbClr val="2E3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42062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F96B3"/>
                </a:solidFill>
              </a:rPr>
              <a:t>Maryland Department of the Environment (MDE)  ·  PCA: 79103  ·  Fund: Radiation Control Fund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262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F96B3"/>
                </a:solidFill>
              </a:rPr>
              <a:t>Prepared for Executive Review  ·  July 10,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37160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0" b="0" i="0">
                <a:solidFill>
                  <a:srgbClr val="1A1F35"/>
                </a:solidFill>
              </a:rPr>
              <a:t>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41280" y="155448"/>
            <a:ext cx="1737360" cy="329184"/>
          </a:xfrm>
          <a:prstGeom prst="rect">
            <a:avLst/>
          </a:prstGeom>
          <a:solidFill>
            <a:srgbClr val="784B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77855" y="164592"/>
            <a:ext cx="166420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59E0B"/>
                </a:solidFill>
              </a:rPr>
              <a:t>Overall: YELLOW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12880" cy="1234440"/>
          </a:xfrm>
          <a:prstGeom prst="rect">
            <a:avLst/>
          </a:prstGeom>
          <a:solidFill>
            <a:srgbClr val="1A1D27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F96B3"/>
                </a:solidFill>
              </a:rPr>
              <a:t>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The Radiological Health Program (RHP) is launching a strategic modernization initiative to transition its permitting and licensing application pipeline from legacy, manual workflows to a centralized online portal and electronic payment module.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21284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F96B3"/>
                </a:solidFill>
              </a:rPr>
              <a:t>HEALTH STATUS INDICATORS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487168"/>
            <a:ext cx="1874519" cy="960120"/>
          </a:xfrm>
          <a:prstGeom prst="rect">
            <a:avLst/>
          </a:prstGeom>
          <a:solidFill>
            <a:srgbClr val="22263A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24127" y="2560320"/>
            <a:ext cx="347472" cy="347472"/>
          </a:xfrm>
          <a:prstGeom prst="ellipse">
            <a:avLst/>
          </a:prstGeom>
          <a:solidFill>
            <a:srgbClr val="165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7" y="2560320"/>
            <a:ext cx="3474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980944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Scope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12847" y="2487168"/>
            <a:ext cx="1874519" cy="960120"/>
          </a:xfrm>
          <a:prstGeom prst="rect">
            <a:avLst/>
          </a:prstGeom>
          <a:solidFill>
            <a:srgbClr val="22263A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62655" y="2560320"/>
            <a:ext cx="347472" cy="347472"/>
          </a:xfrm>
          <a:prstGeom prst="ellipse">
            <a:avLst/>
          </a:prstGeom>
          <a:solidFill>
            <a:srgbClr val="165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2655" y="2560320"/>
            <a:ext cx="3474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847" y="2980944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Schedule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51375" y="2487168"/>
            <a:ext cx="1874519" cy="960120"/>
          </a:xfrm>
          <a:prstGeom prst="rect">
            <a:avLst/>
          </a:prstGeom>
          <a:solidFill>
            <a:srgbClr val="22263A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01183" y="2560320"/>
            <a:ext cx="347472" cy="347472"/>
          </a:xfrm>
          <a:prstGeom prst="ellipse">
            <a:avLst/>
          </a:prstGeom>
          <a:solidFill>
            <a:srgbClr val="165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01183" y="2560320"/>
            <a:ext cx="3474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5" y="2980944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9903" y="2487168"/>
            <a:ext cx="1874519" cy="960120"/>
          </a:xfrm>
          <a:prstGeom prst="rect">
            <a:avLst/>
          </a:prstGeom>
          <a:solidFill>
            <a:srgbClr val="22263A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839712" y="2560320"/>
            <a:ext cx="347472" cy="347472"/>
          </a:xfrm>
          <a:prstGeom prst="ellipse">
            <a:avLst/>
          </a:prstGeom>
          <a:solidFill>
            <a:srgbClr val="165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9712" y="2560320"/>
            <a:ext cx="3474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9903" y="2980944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Risk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28431" y="2487168"/>
            <a:ext cx="1874519" cy="960120"/>
          </a:xfrm>
          <a:prstGeom prst="rect">
            <a:avLst/>
          </a:prstGeom>
          <a:solidFill>
            <a:srgbClr val="22263A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778240" y="2560320"/>
            <a:ext cx="347472" cy="347472"/>
          </a:xfrm>
          <a:prstGeom prst="ellipse">
            <a:avLst/>
          </a:prstGeom>
          <a:solidFill>
            <a:srgbClr val="7A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0" y="2560320"/>
            <a:ext cx="3474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F4444"/>
                </a:solidFill>
              </a:rPr>
              <a:t>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28431" y="2980944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Quality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66959" y="2487168"/>
            <a:ext cx="1874519" cy="960120"/>
          </a:xfrm>
          <a:prstGeom prst="rect">
            <a:avLst/>
          </a:prstGeom>
          <a:solidFill>
            <a:srgbClr val="22263A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16767" y="2560320"/>
            <a:ext cx="347472" cy="347472"/>
          </a:xfrm>
          <a:prstGeom prst="ellipse">
            <a:avLst/>
          </a:prstGeom>
          <a:solidFill>
            <a:srgbClr val="784B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16767" y="2560320"/>
            <a:ext cx="3474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9E0B"/>
                </a:solidFill>
              </a:rPr>
              <a:t>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59" y="2980944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Resources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584448"/>
            <a:ext cx="11612880" cy="841248"/>
          </a:xfrm>
          <a:prstGeom prst="rect">
            <a:avLst/>
          </a:prstGeom>
          <a:solidFill>
            <a:srgbClr val="784B05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36393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</a:rPr>
              <a:t>⚠  WHY YELLOW?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3877056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Environment and resource changes have been identified during the reporting period. These changes are not expected to impact overall project delivery. The team is actively hiring a Tech Lead to prevent future environmental and build blockers, as key agency technical resources are engaged in other internal initiatives.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74320" y="4617720"/>
            <a:ext cx="11612880" cy="0"/>
          </a:xfrm>
          <a:prstGeom prst="line">
            <a:avLst/>
          </a:prstGeom>
          <a:ln w="6350">
            <a:solidFill>
              <a:srgbClr val="2E3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74320" y="468172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F96B3"/>
                </a:solidFill>
              </a:rPr>
              <a:t>Reporting Period: FY26  ·  Jun 12,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Sprint Schedule &amp; Delivery Milestones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155448"/>
            <a:ext cx="2240280" cy="329184"/>
          </a:xfrm>
          <a:prstGeom prst="rect">
            <a:avLst/>
          </a:prstGeom>
          <a:solidFill>
            <a:srgbClr val="1E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29215" y="164592"/>
            <a:ext cx="21671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F8EF7"/>
                </a:solidFill>
              </a:rPr>
              <a:t>Sprint 2: IN PROGRESS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777240"/>
            <a:ext cx="11612880" cy="749808"/>
          </a:xfrm>
          <a:prstGeom prst="rect">
            <a:avLst/>
          </a:prstGeom>
          <a:solidFill>
            <a:srgbClr val="1A1D27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4124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Sprint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96B3"/>
                </a:solidFill>
              </a:rPr>
              <a:t>Jun 17 – Jun 30,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886968"/>
            <a:ext cx="6675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Group 3–9: PDF Portal Submissions &amp; Electronic Payments enabled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0" y="978408"/>
            <a:ext cx="2011680" cy="146304"/>
          </a:xfrm>
          <a:prstGeom prst="rect">
            <a:avLst/>
          </a:prstGeom>
          <a:solidFill>
            <a:srgbClr val="2E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0" y="978408"/>
            <a:ext cx="2011680" cy="14630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80192" y="932688"/>
            <a:ext cx="411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1216152"/>
            <a:ext cx="1234440" cy="219456"/>
          </a:xfrm>
          <a:prstGeom prst="rect">
            <a:avLst/>
          </a:prstGeom>
          <a:solidFill>
            <a:srgbClr val="165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1936" y="1225296"/>
            <a:ext cx="1161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563624"/>
            <a:ext cx="11612880" cy="749808"/>
          </a:xfrm>
          <a:prstGeom prst="rect">
            <a:avLst/>
          </a:prstGeom>
          <a:solidFill>
            <a:srgbClr val="1A1D27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62763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Sprint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947672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96B3"/>
                </a:solidFill>
              </a:rPr>
              <a:t>Jul 1 – Jul 14,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1673352"/>
            <a:ext cx="6675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Group 3–9: Enable Notifications for customers &amp; RHP Team Inbox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764792"/>
            <a:ext cx="2011680" cy="146304"/>
          </a:xfrm>
          <a:prstGeom prst="rect">
            <a:avLst/>
          </a:prstGeom>
          <a:solidFill>
            <a:srgbClr val="2E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95360" y="1764792"/>
            <a:ext cx="1287475" cy="14630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80192" y="1719072"/>
            <a:ext cx="411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64%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2002536"/>
            <a:ext cx="1234440" cy="219456"/>
          </a:xfrm>
          <a:prstGeom prst="rect">
            <a:avLst/>
          </a:prstGeom>
          <a:solidFill>
            <a:srgbClr val="1E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31936" y="2011679"/>
            <a:ext cx="1161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4F8EF7"/>
                </a:solidFill>
              </a:rPr>
              <a:t>In Progress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350008"/>
            <a:ext cx="11612880" cy="749808"/>
          </a:xfrm>
          <a:prstGeom prst="rect">
            <a:avLst/>
          </a:prstGeom>
          <a:solidFill>
            <a:srgbClr val="1A1D27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4140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Sprint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73405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96B3"/>
                </a:solidFill>
              </a:rPr>
              <a:t>Jul 15 – Jul 28,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2459736"/>
            <a:ext cx="6675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Group 3–9: Provide option to download RHP permits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95360" y="2551176"/>
            <a:ext cx="2011680" cy="146304"/>
          </a:xfrm>
          <a:prstGeom prst="rect">
            <a:avLst/>
          </a:prstGeom>
          <a:solidFill>
            <a:srgbClr val="2E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80192" y="2505456"/>
            <a:ext cx="411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95360" y="2788920"/>
            <a:ext cx="1234440" cy="219456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31936" y="2798063"/>
            <a:ext cx="1161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F96B3"/>
                </a:solidFill>
              </a:rPr>
              <a:t>Not Started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136392"/>
            <a:ext cx="11612880" cy="749808"/>
          </a:xfrm>
          <a:prstGeom prst="rect">
            <a:avLst/>
          </a:prstGeom>
          <a:solidFill>
            <a:srgbClr val="1A1D27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32004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Sprint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52044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96B3"/>
                </a:solidFill>
              </a:rPr>
              <a:t>Jul 29 – Aug 11,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3246120"/>
            <a:ext cx="6675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Group 3–9: Reject &amp; update status (CRM) for RHP permits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95360" y="3337560"/>
            <a:ext cx="2011680" cy="146304"/>
          </a:xfrm>
          <a:prstGeom prst="rect">
            <a:avLst/>
          </a:prstGeom>
          <a:solidFill>
            <a:srgbClr val="2E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680192" y="3291840"/>
            <a:ext cx="411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95360" y="3575304"/>
            <a:ext cx="1234440" cy="219456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31936" y="3584448"/>
            <a:ext cx="1161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F96B3"/>
                </a:solidFill>
              </a:rPr>
              <a:t>Not Started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922776"/>
            <a:ext cx="11612880" cy="749808"/>
          </a:xfrm>
          <a:prstGeom prst="rect">
            <a:avLst/>
          </a:prstGeom>
          <a:solidFill>
            <a:srgbClr val="1A1D27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398678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Sprint 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430682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96B3"/>
                </a:solidFill>
              </a:rPr>
              <a:t>TBD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4032504"/>
            <a:ext cx="6675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Group 1–2: Configuration and setup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95360" y="4123944"/>
            <a:ext cx="2011680" cy="146304"/>
          </a:xfrm>
          <a:prstGeom prst="rect">
            <a:avLst/>
          </a:prstGeom>
          <a:solidFill>
            <a:srgbClr val="2E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80192" y="4078224"/>
            <a:ext cx="411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95360" y="4361688"/>
            <a:ext cx="1234440" cy="219456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31936" y="4370831"/>
            <a:ext cx="1161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F96B3"/>
                </a:solidFill>
              </a:rPr>
              <a:t>Not Started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4709159"/>
            <a:ext cx="11612880" cy="749808"/>
          </a:xfrm>
          <a:prstGeom prst="rect">
            <a:avLst/>
          </a:prstGeom>
          <a:solidFill>
            <a:srgbClr val="1A1D27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77316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Sprint 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5093207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96B3"/>
                </a:solidFill>
              </a:rPr>
              <a:t>TBD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00200" y="4818888"/>
            <a:ext cx="6675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Group 3–9: Web Forms Development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95360" y="4910327"/>
            <a:ext cx="2011680" cy="146304"/>
          </a:xfrm>
          <a:prstGeom prst="rect">
            <a:avLst/>
          </a:prstGeom>
          <a:solidFill>
            <a:srgbClr val="2E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680192" y="4864607"/>
            <a:ext cx="411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95360" y="5148071"/>
            <a:ext cx="1234440" cy="219456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31936" y="5157215"/>
            <a:ext cx="1161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F96B3"/>
                </a:solidFill>
              </a:rPr>
              <a:t>Not Started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74320" y="6537960"/>
            <a:ext cx="11612880" cy="0"/>
          </a:xfrm>
          <a:prstGeom prst="line">
            <a:avLst/>
          </a:prstGeom>
          <a:ln w="6350">
            <a:solidFill>
              <a:srgbClr val="2E3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74320" y="6583680"/>
            <a:ext cx="11612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96B3"/>
                </a:solidFill>
              </a:rPr>
              <a:t>Near = within 2 sprints  ·  Next = planned future sprints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Financial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0" y="155448"/>
            <a:ext cx="1828800" cy="329184"/>
          </a:xfrm>
          <a:prstGeom prst="rect">
            <a:avLst/>
          </a:prstGeom>
          <a:solidFill>
            <a:srgbClr val="165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94976" y="164592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2C55E"/>
                </a:solidFill>
              </a:rPr>
              <a:t>Cost Status: GREEN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777240"/>
            <a:ext cx="2816352" cy="914400"/>
          </a:xfrm>
          <a:prstGeom prst="rect">
            <a:avLst/>
          </a:prstGeom>
          <a:solidFill>
            <a:srgbClr val="1E3A7A"/>
          </a:solidFill>
          <a:ln w="9525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82296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F96B3"/>
                </a:solidFill>
              </a:rPr>
              <a:t>Total Approved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024128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F8EF7"/>
                </a:solidFill>
              </a:rPr>
              <a:t>$6.0M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426464"/>
            <a:ext cx="25968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96B3"/>
                </a:solidFill>
              </a:rPr>
              <a:t>FY25–FY26 Combined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54679" y="777240"/>
            <a:ext cx="2816352" cy="914400"/>
          </a:xfrm>
          <a:prstGeom prst="rect">
            <a:avLst/>
          </a:prstGeom>
          <a:solidFill>
            <a:srgbClr val="784B05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64408" y="82296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F96B3"/>
                </a:solidFill>
              </a:rPr>
              <a:t>Total Forecast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1024128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</a:rPr>
              <a:t>$3.70M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4408" y="1426464"/>
            <a:ext cx="25968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96B3"/>
                </a:solidFill>
              </a:rPr>
              <a:t>FY25–FY28 All Years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777240"/>
            <a:ext cx="2816352" cy="914400"/>
          </a:xfrm>
          <a:prstGeom prst="rect">
            <a:avLst/>
          </a:prstGeom>
          <a:solidFill>
            <a:srgbClr val="165B35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82296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F96B3"/>
                </a:solidFill>
              </a:rPr>
              <a:t>Total Actual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024128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</a:rPr>
              <a:t>$1.45M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1426464"/>
            <a:ext cx="25968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96B3"/>
                </a:solidFill>
              </a:rPr>
              <a:t>FY25 + FY26 Spent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15400" y="777240"/>
            <a:ext cx="2816352" cy="914400"/>
          </a:xfrm>
          <a:prstGeom prst="rect">
            <a:avLst/>
          </a:prstGeom>
          <a:solidFill>
            <a:srgbClr val="4A1F78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5128" y="82296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F96B3"/>
                </a:solidFill>
              </a:rPr>
              <a:t>Remaining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1024128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A855F7"/>
                </a:solidFill>
              </a:rPr>
              <a:t>$1.55M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5128" y="1426464"/>
            <a:ext cx="25968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96B3"/>
                </a:solidFill>
              </a:rPr>
              <a:t>Balance / Variance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1901952"/>
            <a:ext cx="1234440" cy="402336"/>
          </a:xfrm>
          <a:prstGeom prst="rect">
            <a:avLst/>
          </a:prstGeom>
          <a:solidFill>
            <a:srgbClr val="0E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1993392"/>
            <a:ext cx="11247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F96B3"/>
                </a:solidFill>
              </a:rPr>
              <a:t>Fiscal Year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45336" y="1901952"/>
            <a:ext cx="1417320" cy="402336"/>
          </a:xfrm>
          <a:prstGeom prst="rect">
            <a:avLst/>
          </a:prstGeom>
          <a:solidFill>
            <a:srgbClr val="0E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00200" y="1993392"/>
            <a:ext cx="1307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8F96B3"/>
                </a:solidFill>
              </a:rPr>
              <a:t>Approved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99232" y="1901952"/>
            <a:ext cx="1417320" cy="402336"/>
          </a:xfrm>
          <a:prstGeom prst="rect">
            <a:avLst/>
          </a:prstGeom>
          <a:solidFill>
            <a:srgbClr val="0E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1993392"/>
            <a:ext cx="1307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8F96B3"/>
                </a:solidFill>
              </a:rPr>
              <a:t>Forecast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53128" y="1901952"/>
            <a:ext cx="1417320" cy="402336"/>
          </a:xfrm>
          <a:prstGeom prst="rect">
            <a:avLst/>
          </a:prstGeom>
          <a:solidFill>
            <a:srgbClr val="0E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07992" y="1993392"/>
            <a:ext cx="1307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8F96B3"/>
                </a:solidFill>
              </a:rPr>
              <a:t>Actual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7024" y="1901952"/>
            <a:ext cx="1325880" cy="402336"/>
          </a:xfrm>
          <a:prstGeom prst="rect">
            <a:avLst/>
          </a:prstGeom>
          <a:solidFill>
            <a:srgbClr val="0E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61888" y="1993392"/>
            <a:ext cx="12161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8F96B3"/>
                </a:solidFill>
              </a:rPr>
              <a:t>Balance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1901952"/>
            <a:ext cx="2377440" cy="402336"/>
          </a:xfrm>
          <a:prstGeom prst="rect">
            <a:avLst/>
          </a:prstGeom>
          <a:solidFill>
            <a:srgbClr val="0E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24344" y="1993392"/>
            <a:ext cx="22677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F96B3"/>
                </a:solidFill>
              </a:rPr>
              <a:t>Fund Source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2304288"/>
            <a:ext cx="1234440" cy="402336"/>
          </a:xfrm>
          <a:prstGeom prst="rect">
            <a:avLst/>
          </a:prstGeom>
          <a:solidFill>
            <a:srgbClr val="1A1D27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184" y="2395728"/>
            <a:ext cx="11247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FY-25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45336" y="2304288"/>
            <a:ext cx="1417320" cy="402336"/>
          </a:xfrm>
          <a:prstGeom prst="rect">
            <a:avLst/>
          </a:prstGeom>
          <a:solidFill>
            <a:srgbClr val="1A1D27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00200" y="2395728"/>
            <a:ext cx="1307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F96B3"/>
                </a:solidFill>
              </a:rPr>
              <a:t>$1,000,000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99232" y="2304288"/>
            <a:ext cx="1417320" cy="402336"/>
          </a:xfrm>
          <a:prstGeom prst="rect">
            <a:avLst/>
          </a:prstGeom>
          <a:solidFill>
            <a:srgbClr val="1A1D27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54096" y="2395728"/>
            <a:ext cx="1307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F96B3"/>
                </a:solidFill>
              </a:rPr>
              <a:t>$500,000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53128" y="2304288"/>
            <a:ext cx="1417320" cy="402336"/>
          </a:xfrm>
          <a:prstGeom prst="rect">
            <a:avLst/>
          </a:prstGeom>
          <a:solidFill>
            <a:srgbClr val="1A1D27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07992" y="2395728"/>
            <a:ext cx="1307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F96B3"/>
                </a:solidFill>
              </a:rPr>
              <a:t>$275,086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07024" y="2304288"/>
            <a:ext cx="1325880" cy="402336"/>
          </a:xfrm>
          <a:prstGeom prst="rect">
            <a:avLst/>
          </a:prstGeom>
          <a:solidFill>
            <a:srgbClr val="1A1D27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61888" y="2395728"/>
            <a:ext cx="12161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22C55E"/>
                </a:solidFill>
              </a:rPr>
              <a:t>$724,914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69480" y="2304288"/>
            <a:ext cx="2377440" cy="402336"/>
          </a:xfrm>
          <a:prstGeom prst="rect">
            <a:avLst/>
          </a:prstGeom>
          <a:solidFill>
            <a:srgbClr val="1A1D27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24344" y="2395728"/>
            <a:ext cx="22677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F96B3"/>
                </a:solidFill>
              </a:rPr>
              <a:t>Radiation Control (SF)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2706624"/>
            <a:ext cx="1234440" cy="402336"/>
          </a:xfrm>
          <a:prstGeom prst="rect">
            <a:avLst/>
          </a:prstGeom>
          <a:solidFill>
            <a:srgbClr val="22263A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9184" y="2798064"/>
            <a:ext cx="11247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FY-26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45336" y="2706624"/>
            <a:ext cx="1417320" cy="402336"/>
          </a:xfrm>
          <a:prstGeom prst="rect">
            <a:avLst/>
          </a:prstGeom>
          <a:solidFill>
            <a:srgbClr val="22263A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00200" y="2798064"/>
            <a:ext cx="1307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F96B3"/>
                </a:solidFill>
              </a:rPr>
              <a:t>$2,000,000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99232" y="2706624"/>
            <a:ext cx="1417320" cy="402336"/>
          </a:xfrm>
          <a:prstGeom prst="rect">
            <a:avLst/>
          </a:prstGeom>
          <a:solidFill>
            <a:srgbClr val="22263A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54096" y="2798064"/>
            <a:ext cx="1307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F96B3"/>
                </a:solidFill>
              </a:rPr>
              <a:t>$1,200,000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453128" y="2706624"/>
            <a:ext cx="1417320" cy="402336"/>
          </a:xfrm>
          <a:prstGeom prst="rect">
            <a:avLst/>
          </a:prstGeom>
          <a:solidFill>
            <a:srgbClr val="22263A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07992" y="2798064"/>
            <a:ext cx="1307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F96B3"/>
                </a:solidFill>
              </a:rPr>
              <a:t>$1,177,504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07024" y="2706624"/>
            <a:ext cx="1325880" cy="402336"/>
          </a:xfrm>
          <a:prstGeom prst="rect">
            <a:avLst/>
          </a:prstGeom>
          <a:solidFill>
            <a:srgbClr val="22263A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61888" y="2798064"/>
            <a:ext cx="12161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22C55E"/>
                </a:solidFill>
              </a:rPr>
              <a:t>$822,496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69480" y="2706624"/>
            <a:ext cx="2377440" cy="402336"/>
          </a:xfrm>
          <a:prstGeom prst="rect">
            <a:avLst/>
          </a:prstGeom>
          <a:solidFill>
            <a:srgbClr val="22263A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24344" y="2798064"/>
            <a:ext cx="22677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F96B3"/>
                </a:solidFill>
              </a:rPr>
              <a:t>Radiation Control (SF)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3108960"/>
            <a:ext cx="1234440" cy="402336"/>
          </a:xfrm>
          <a:prstGeom prst="rect">
            <a:avLst/>
          </a:prstGeom>
          <a:solidFill>
            <a:srgbClr val="1A1D27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9184" y="3200400"/>
            <a:ext cx="11247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FY-27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545336" y="3108960"/>
            <a:ext cx="1417320" cy="402336"/>
          </a:xfrm>
          <a:prstGeom prst="rect">
            <a:avLst/>
          </a:prstGeom>
          <a:solidFill>
            <a:srgbClr val="1A1D27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00200" y="3200400"/>
            <a:ext cx="1307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F96B3"/>
                </a:solidFill>
              </a:rPr>
              <a:t>$3,000,000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99232" y="3108960"/>
            <a:ext cx="1417320" cy="402336"/>
          </a:xfrm>
          <a:prstGeom prst="rect">
            <a:avLst/>
          </a:prstGeom>
          <a:solidFill>
            <a:srgbClr val="1A1D27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54096" y="3200400"/>
            <a:ext cx="1307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F96B3"/>
                </a:solidFill>
              </a:rPr>
              <a:t>$1,468,511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53128" y="3108960"/>
            <a:ext cx="1417320" cy="402336"/>
          </a:xfrm>
          <a:prstGeom prst="rect">
            <a:avLst/>
          </a:prstGeom>
          <a:solidFill>
            <a:srgbClr val="1A1D27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07992" y="3200400"/>
            <a:ext cx="1307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F96B3"/>
                </a:solidFill>
              </a:rPr>
              <a:t>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907024" y="3108960"/>
            <a:ext cx="1325880" cy="402336"/>
          </a:xfrm>
          <a:prstGeom prst="rect">
            <a:avLst/>
          </a:prstGeom>
          <a:solidFill>
            <a:srgbClr val="1A1D27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961888" y="3200400"/>
            <a:ext cx="12161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F96B3"/>
                </a:solidFill>
              </a:rP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269480" y="3108960"/>
            <a:ext cx="2377440" cy="402336"/>
          </a:xfrm>
          <a:prstGeom prst="rect">
            <a:avLst/>
          </a:prstGeom>
          <a:solidFill>
            <a:srgbClr val="1A1D27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24344" y="3200400"/>
            <a:ext cx="22677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F96B3"/>
                </a:solidFill>
              </a:rPr>
              <a:t>Special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3511296"/>
            <a:ext cx="1234440" cy="402336"/>
          </a:xfrm>
          <a:prstGeom prst="rect">
            <a:avLst/>
          </a:prstGeom>
          <a:solidFill>
            <a:srgbClr val="22263A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9184" y="3602736"/>
            <a:ext cx="11247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FY-28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545336" y="3511296"/>
            <a:ext cx="1417320" cy="402336"/>
          </a:xfrm>
          <a:prstGeom prst="rect">
            <a:avLst/>
          </a:prstGeom>
          <a:solidFill>
            <a:srgbClr val="22263A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00200" y="3602736"/>
            <a:ext cx="1307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F96B3"/>
                </a:solidFill>
              </a:rPr>
              <a:t>—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99232" y="3511296"/>
            <a:ext cx="1417320" cy="402336"/>
          </a:xfrm>
          <a:prstGeom prst="rect">
            <a:avLst/>
          </a:prstGeom>
          <a:solidFill>
            <a:srgbClr val="22263A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054096" y="3602736"/>
            <a:ext cx="1307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F96B3"/>
                </a:solidFill>
              </a:rPr>
              <a:t>$535,591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53128" y="3511296"/>
            <a:ext cx="1417320" cy="402336"/>
          </a:xfrm>
          <a:prstGeom prst="rect">
            <a:avLst/>
          </a:prstGeom>
          <a:solidFill>
            <a:srgbClr val="22263A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507992" y="3602736"/>
            <a:ext cx="1307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F96B3"/>
                </a:solidFill>
              </a:rPr>
              <a:t>—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907024" y="3511296"/>
            <a:ext cx="1325880" cy="402336"/>
          </a:xfrm>
          <a:prstGeom prst="rect">
            <a:avLst/>
          </a:prstGeom>
          <a:solidFill>
            <a:srgbClr val="22263A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961888" y="3602736"/>
            <a:ext cx="12161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F96B3"/>
                </a:solidFill>
              </a:rPr>
              <a:t>$0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269480" y="3511296"/>
            <a:ext cx="2377440" cy="402336"/>
          </a:xfrm>
          <a:prstGeom prst="rect">
            <a:avLst/>
          </a:prstGeom>
          <a:solidFill>
            <a:srgbClr val="22263A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324344" y="3602736"/>
            <a:ext cx="22677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F96B3"/>
                </a:solidFill>
              </a:rPr>
              <a:t>Special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74320" y="3913632"/>
            <a:ext cx="1234440" cy="402336"/>
          </a:xfrm>
          <a:prstGeom prst="rect">
            <a:avLst/>
          </a:prstGeom>
          <a:solidFill>
            <a:srgbClr val="1E3A7A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29184" y="4005072"/>
            <a:ext cx="11247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545336" y="3913632"/>
            <a:ext cx="1417320" cy="402336"/>
          </a:xfrm>
          <a:prstGeom prst="rect">
            <a:avLst/>
          </a:prstGeom>
          <a:solidFill>
            <a:srgbClr val="1E3A7A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600200" y="4005072"/>
            <a:ext cx="1307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FFFF"/>
                </a:solidFill>
              </a:rPr>
              <a:t>$6,000,000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999232" y="3913632"/>
            <a:ext cx="1417320" cy="402336"/>
          </a:xfrm>
          <a:prstGeom prst="rect">
            <a:avLst/>
          </a:prstGeom>
          <a:solidFill>
            <a:srgbClr val="1E3A7A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054096" y="4005072"/>
            <a:ext cx="1307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FFFF"/>
                </a:solidFill>
              </a:rPr>
              <a:t>$3,704,102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453128" y="3913632"/>
            <a:ext cx="1417320" cy="402336"/>
          </a:xfrm>
          <a:prstGeom prst="rect">
            <a:avLst/>
          </a:prstGeom>
          <a:solidFill>
            <a:srgbClr val="1E3A7A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507992" y="4005072"/>
            <a:ext cx="1307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FFFF"/>
                </a:solidFill>
              </a:rPr>
              <a:t>$1,452,590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07024" y="3913632"/>
            <a:ext cx="1325880" cy="402336"/>
          </a:xfrm>
          <a:prstGeom prst="rect">
            <a:avLst/>
          </a:prstGeom>
          <a:solidFill>
            <a:srgbClr val="1E3A7A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961888" y="4005072"/>
            <a:ext cx="12161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FFFF"/>
                </a:solidFill>
              </a:rPr>
              <a:t>$1,547,410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269480" y="3913632"/>
            <a:ext cx="2377440" cy="402336"/>
          </a:xfrm>
          <a:prstGeom prst="rect">
            <a:avLst/>
          </a:prstGeom>
          <a:solidFill>
            <a:srgbClr val="1E3A7A"/>
          </a:solidFill>
          <a:ln w="5080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324344" y="4005072"/>
            <a:ext cx="22677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4320" y="440740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F96B3"/>
                </a:solidFill>
              </a:rPr>
              <a:t>BUDGET UTILIZATION (ACTUAL vs APPROVED)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74320" y="4663440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F96B3"/>
                </a:solidFill>
              </a:rPr>
              <a:t>FY-25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05840" y="4718303"/>
            <a:ext cx="8229600" cy="182880"/>
          </a:xfrm>
          <a:prstGeom prst="rect">
            <a:avLst/>
          </a:prstGeom>
          <a:solidFill>
            <a:srgbClr val="2E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05840" y="4718303"/>
            <a:ext cx="2263140" cy="1828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326880" y="4663440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27.5%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4320" y="5074920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F96B3"/>
                </a:solidFill>
              </a:rPr>
              <a:t>FY-26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05840" y="5129783"/>
            <a:ext cx="8229600" cy="182880"/>
          </a:xfrm>
          <a:prstGeom prst="rect">
            <a:avLst/>
          </a:prstGeom>
          <a:solidFill>
            <a:srgbClr val="2E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05840" y="5129783"/>
            <a:ext cx="4847234" cy="1828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326880" y="5074920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58.9%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4320" y="5486400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F96B3"/>
                </a:solidFill>
              </a:rPr>
              <a:t>FY-27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05840" y="5541264"/>
            <a:ext cx="8229600" cy="182880"/>
          </a:xfrm>
          <a:prstGeom prst="rect">
            <a:avLst/>
          </a:prstGeom>
          <a:solidFill>
            <a:srgbClr val="2E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326880" y="5486400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0.0%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274320" y="6537960"/>
            <a:ext cx="11612880" cy="0"/>
          </a:xfrm>
          <a:prstGeom prst="line">
            <a:avLst/>
          </a:prstGeom>
          <a:ln w="6350">
            <a:solidFill>
              <a:srgbClr val="2E3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274320" y="6583680"/>
            <a:ext cx="11612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96B3"/>
                </a:solidFill>
              </a:rPr>
              <a:t>PCA: 79103  ·  Object Code: Radiation Control Fund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MVP Capabilities — Groups 3 through 9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04672"/>
            <a:ext cx="3767328" cy="1627632"/>
          </a:xfrm>
          <a:prstGeom prst="rect">
            <a:avLst/>
          </a:prstGeom>
          <a:solidFill>
            <a:srgbClr val="1E3A7A"/>
          </a:solidFill>
          <a:ln w="762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38912" y="987552"/>
            <a:ext cx="475488" cy="475488"/>
          </a:xfrm>
          <a:prstGeom prst="ellipse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96012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005840"/>
            <a:ext cx="28712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Portal Submissions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554480"/>
            <a:ext cx="343814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1E8"/>
                </a:solidFill>
              </a:rPr>
              <a:t>PDF application submissions through the ESC Portal for Groups 3–9.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804672"/>
            <a:ext cx="3767328" cy="1627632"/>
          </a:xfrm>
          <a:prstGeom prst="rect">
            <a:avLst/>
          </a:prstGeom>
          <a:solidFill>
            <a:srgbClr val="165B35"/>
          </a:solidFill>
          <a:ln w="762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70831" y="987552"/>
            <a:ext cx="475488" cy="475488"/>
          </a:xfrm>
          <a:prstGeom prst="ellipse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0831" y="96012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79" y="1005840"/>
            <a:ext cx="28712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Electronic Payments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0831" y="1554480"/>
            <a:ext cx="343814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1E8"/>
                </a:solidFill>
              </a:rPr>
              <a:t>Credit/debit card and E-check capabilities to immediately resolve clearing delays.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804672"/>
            <a:ext cx="3767328" cy="1627632"/>
          </a:xfrm>
          <a:prstGeom prst="rect">
            <a:avLst/>
          </a:prstGeom>
          <a:solidFill>
            <a:srgbClr val="784B05"/>
          </a:solidFill>
          <a:ln w="76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02752" y="987552"/>
            <a:ext cx="475488" cy="475488"/>
          </a:xfrm>
          <a:prstGeom prst="ellipse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960120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1005840"/>
            <a:ext cx="28712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Notifications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1554480"/>
            <a:ext cx="343814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1E8"/>
                </a:solidFill>
              </a:rPr>
              <a:t>One-time email confirmations for end-users upon application and payment submission.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615184"/>
            <a:ext cx="3767328" cy="1627632"/>
          </a:xfrm>
          <a:prstGeom prst="rect">
            <a:avLst/>
          </a:prstGeom>
          <a:solidFill>
            <a:srgbClr val="3A1560"/>
          </a:solidFill>
          <a:ln w="762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8912" y="2798064"/>
            <a:ext cx="475488" cy="475488"/>
          </a:xfrm>
          <a:prstGeom prst="ellipse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2770632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816352"/>
            <a:ext cx="28712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RHP Team Inbox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" y="3364991"/>
            <a:ext cx="343814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1E8"/>
                </a:solidFill>
              </a:rPr>
              <a:t>Automated notifications delivered to the MDE Business User (RHP Team) inbox.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06240" y="2615184"/>
            <a:ext cx="3767328" cy="1627632"/>
          </a:xfrm>
          <a:prstGeom prst="rect">
            <a:avLst/>
          </a:prstGeom>
          <a:solidFill>
            <a:srgbClr val="703015"/>
          </a:solidFill>
          <a:ln w="7620">
            <a:solidFill>
              <a:srgbClr val="FF7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370831" y="2798064"/>
            <a:ext cx="475488" cy="475488"/>
          </a:xfrm>
          <a:prstGeom prst="ellipse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70831" y="2770632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79" y="2816352"/>
            <a:ext cx="28712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Document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0831" y="3364991"/>
            <a:ext cx="343814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1E8"/>
                </a:solidFill>
              </a:rPr>
              <a:t>Secure view, download of applications and supporting documents — individual files or ZIP.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2615184"/>
            <a:ext cx="3767328" cy="1627632"/>
          </a:xfrm>
          <a:prstGeom prst="rect">
            <a:avLst/>
          </a:prstGeom>
          <a:solidFill>
            <a:srgbClr val="074555"/>
          </a:solidFill>
          <a:ln w="762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302752" y="2798064"/>
            <a:ext cx="475488" cy="475488"/>
          </a:xfrm>
          <a:prstGeom prst="ellipse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02752" y="2770632"/>
            <a:ext cx="4754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2816352"/>
            <a:ext cx="28712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IAM Authentication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2" y="3364991"/>
            <a:ext cx="343814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1E8"/>
                </a:solidFill>
              </a:rPr>
              <a:t>MDE Business User authentication via Identity and Access Management (IAM) protocols.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74320" y="6537960"/>
            <a:ext cx="11612880" cy="0"/>
          </a:xfrm>
          <a:prstGeom prst="line">
            <a:avLst/>
          </a:prstGeom>
          <a:ln w="6350">
            <a:solidFill>
              <a:srgbClr val="2E3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74320" y="6583680"/>
            <a:ext cx="11612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96B3"/>
                </a:solidFill>
              </a:rPr>
              <a:t>Groups 1–2 configuration and setup planned in Sprint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Risks, Impediments &amp; Action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04672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F96B3"/>
                </a:solidFill>
              </a:rPr>
              <a:t>ACTIVE RISKS &amp; IMPEDIMENTS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15568"/>
            <a:ext cx="8686800" cy="1024128"/>
          </a:xfrm>
          <a:prstGeom prst="rect">
            <a:avLst/>
          </a:prstGeom>
          <a:solidFill>
            <a:srgbClr val="7A1D1D"/>
          </a:solidFill>
          <a:ln w="9525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225295"/>
            <a:ext cx="658368" cy="25603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1234439"/>
            <a:ext cx="58521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0F1117"/>
                </a:solidFill>
              </a:rPr>
              <a:t>HIGH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20700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Environment &amp; Build Issues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554480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D1E8"/>
                </a:solidFill>
              </a:rPr>
              <a:t>Encountered environment and build issues impacting iterative delivery. Development and validation processes are established and being monitored. Mitigation: Hiring a Tech Lead to address future environmental/build blockers.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98280" y="1115568"/>
            <a:ext cx="2788920" cy="1024128"/>
          </a:xfrm>
          <a:prstGeom prst="rect">
            <a:avLst/>
          </a:prstGeom>
          <a:solidFill>
            <a:srgbClr val="1A1D27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0" y="1207008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F96B3"/>
                </a:solidFill>
              </a:rPr>
              <a:t>RESPONSE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14630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</a:rPr>
              <a:t>Mitigate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286000"/>
            <a:ext cx="8686800" cy="1024128"/>
          </a:xfrm>
          <a:prstGeom prst="rect">
            <a:avLst/>
          </a:prstGeom>
          <a:solidFill>
            <a:srgbClr val="784B05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2395728"/>
            <a:ext cx="658368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" y="2404872"/>
            <a:ext cx="58521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0F1117"/>
                </a:solidFill>
              </a:rPr>
              <a:t>MEDIUM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3774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Workflow Finalization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724912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D1E8"/>
                </a:solidFill>
              </a:rPr>
              <a:t>Non-ETS workflow approach requires finalization: future status tracking, Third-Party access (Inspectors), Liability Checks, and invoice payment features. DoIT &amp; MDE teams reviewing enterprise solutions.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2286000"/>
            <a:ext cx="2788920" cy="1024128"/>
          </a:xfrm>
          <a:prstGeom prst="rect">
            <a:avLst/>
          </a:prstGeom>
          <a:solidFill>
            <a:srgbClr val="1A1D27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23774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F96B3"/>
                </a:solidFill>
              </a:rPr>
              <a:t>RESPONSE STRATEGY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63347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Transfer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456432"/>
            <a:ext cx="8686800" cy="1024128"/>
          </a:xfrm>
          <a:prstGeom prst="rect">
            <a:avLst/>
          </a:prstGeom>
          <a:solidFill>
            <a:srgbClr val="784B05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566160"/>
            <a:ext cx="658368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" y="3575304"/>
            <a:ext cx="58521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0F1117"/>
                </a:solidFill>
              </a:rPr>
              <a:t>MEDIUM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54787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Registration Number Automation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3895344"/>
            <a:ext cx="8321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D1E8"/>
                </a:solidFill>
              </a:rPr>
              <a:t>Program must decide on folder naming convention and whether the system auto-generates sequence numbers as part of modernization, or continues the current manual process. Awaiting program decision.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3456432"/>
            <a:ext cx="2788920" cy="1024128"/>
          </a:xfrm>
          <a:prstGeom prst="rect">
            <a:avLst/>
          </a:prstGeom>
          <a:solidFill>
            <a:srgbClr val="1A1D27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0" y="3547872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8F96B3"/>
                </a:solidFill>
              </a:rPr>
              <a:t>RESPONSE STRATEGY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380390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Mitigate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4681728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F96B3"/>
                </a:solidFill>
              </a:rPr>
              <a:t>ACTION ITEMS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974336"/>
            <a:ext cx="3721608" cy="1572768"/>
          </a:xfrm>
          <a:prstGeom prst="rect">
            <a:avLst/>
          </a:prstGeom>
          <a:solidFill>
            <a:srgbClr val="1A1D27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4974336"/>
            <a:ext cx="3721608" cy="50292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2336" y="5047488"/>
            <a:ext cx="34655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MVP Time Savings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" y="5358384"/>
            <a:ext cx="346557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F96B3"/>
                </a:solidFill>
              </a:rPr>
              <a:t>Collaborate with program team to generate high-level estimates of days saved per MVP deliverable (80/20 rule).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974336"/>
            <a:ext cx="3721608" cy="1572768"/>
          </a:xfrm>
          <a:prstGeom prst="rect">
            <a:avLst/>
          </a:prstGeom>
          <a:solidFill>
            <a:srgbClr val="1A1D27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0" y="4974336"/>
            <a:ext cx="3721608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42816" y="5047488"/>
            <a:ext cx="34655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Liability Check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42816" y="5358384"/>
            <a:ext cx="346557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F96B3"/>
                </a:solidFill>
              </a:rPr>
              <a:t>Remain closely coordinated with Emil, Paul, and the DoIT team while awaiting update from State Data Officer.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80" y="4974336"/>
            <a:ext cx="3721608" cy="1572768"/>
          </a:xfrm>
          <a:prstGeom prst="rect">
            <a:avLst/>
          </a:prstGeom>
          <a:solidFill>
            <a:srgbClr val="1A1D27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55280" y="4974336"/>
            <a:ext cx="3721608" cy="5029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83296" y="5047488"/>
            <a:ext cx="34655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User Testing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83296" y="5358384"/>
            <a:ext cx="346557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F96B3"/>
                </a:solidFill>
              </a:rPr>
              <a:t>Align with Paul to ensure user testing is seamlessly integrated into development cycles.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74320" y="6537960"/>
            <a:ext cx="11612880" cy="0"/>
          </a:xfrm>
          <a:prstGeom prst="line">
            <a:avLst/>
          </a:prstGeom>
          <a:ln w="6350">
            <a:solidFill>
              <a:srgbClr val="2E3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74320" y="6583680"/>
            <a:ext cx="11612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96B3"/>
                </a:solidFill>
              </a:rPr>
              <a:t>Risk Strategy: Mitigate = internal action  ·  Transfer = escalate / partner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Successes &amp; Key Progress — Reporting Period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04672"/>
            <a:ext cx="11612880" cy="1508760"/>
          </a:xfrm>
          <a:prstGeom prst="rect">
            <a:avLst/>
          </a:prstGeom>
          <a:solidFill>
            <a:srgbClr val="1A1D27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804672"/>
            <a:ext cx="64008" cy="15087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969264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MVP Release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1353312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1E8"/>
                </a:solidFill>
              </a:rPr>
              <a:t>The team is actively working on the MVP release supporting New Applications for Groups 3 through 9. Re-certification and Renewal workflows are under review pending Liability Check clarification (Certificate of Good Standing — new system does not require Tax ID or SSN).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468880"/>
            <a:ext cx="11612880" cy="1508760"/>
          </a:xfrm>
          <a:prstGeom prst="rect">
            <a:avLst/>
          </a:prstGeom>
          <a:solidFill>
            <a:srgbClr val="1A1D27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468880"/>
            <a:ext cx="64008" cy="150876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67004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⚙️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2633472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ESC Page Validations &amp; Verification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30175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1E8"/>
                </a:solidFill>
              </a:rPr>
              <a:t>The RHP Team is developing the RHP Configuration Template to govern ESC Portal page validations, ensuring data integrity and compliance across all application submissions.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133088"/>
            <a:ext cx="11612880" cy="1508760"/>
          </a:xfrm>
          <a:prstGeom prst="rect">
            <a:avLst/>
          </a:prstGeom>
          <a:solidFill>
            <a:srgbClr val="1A1D27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4133088"/>
            <a:ext cx="64008" cy="1508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334256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4297680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Authentication &amp; Database Restructuring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8172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1E8"/>
                </a:solidFill>
              </a:rPr>
              <a:t>Work has commenced on MDE Business User authentication using Identity and Access Management (IAM) protocols, alongside the necessary restructuring of legacy RHP applications and database tables to support modern workflows.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74320" y="6537960"/>
            <a:ext cx="11612880" cy="0"/>
          </a:xfrm>
          <a:prstGeom prst="line">
            <a:avLst/>
          </a:prstGeom>
          <a:ln w="6350">
            <a:solidFill>
              <a:srgbClr val="2E3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74320" y="6583680"/>
            <a:ext cx="11612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96B3"/>
                </a:solidFill>
              </a:rPr>
              <a:t>Sprint 1 completed successfully  ·  Sprint 2 currently in progress (Jul 1–14, 2026)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Executive Summary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77240"/>
            <a:ext cx="2816352" cy="749808"/>
          </a:xfrm>
          <a:prstGeom prst="rect">
            <a:avLst/>
          </a:prstGeom>
          <a:solidFill>
            <a:srgbClr val="784B05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822960"/>
            <a:ext cx="25968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F96B3"/>
                </a:solidFill>
              </a:rPr>
              <a:t>Overall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05840"/>
            <a:ext cx="25968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9E0B"/>
                </a:solidFill>
              </a:rPr>
              <a:t>YELLOW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79" y="777240"/>
            <a:ext cx="2816352" cy="749808"/>
          </a:xfrm>
          <a:prstGeom prst="rect">
            <a:avLst/>
          </a:prstGeom>
          <a:solidFill>
            <a:srgbClr val="165B35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64408" y="822960"/>
            <a:ext cx="25968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F96B3"/>
                </a:solidFill>
              </a:rPr>
              <a:t>Schedule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4408" y="1005840"/>
            <a:ext cx="25968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2C55E"/>
                </a:solidFill>
              </a:rPr>
              <a:t>ON TRACK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777240"/>
            <a:ext cx="2816352" cy="749808"/>
          </a:xfrm>
          <a:prstGeom prst="rect">
            <a:avLst/>
          </a:prstGeom>
          <a:solidFill>
            <a:srgbClr val="165B35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44768" y="822960"/>
            <a:ext cx="25968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F96B3"/>
                </a:solidFill>
              </a:rPr>
              <a:t>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4768" y="1005840"/>
            <a:ext cx="25968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2C55E"/>
                </a:solidFill>
              </a:rPr>
              <a:t>ON TRACK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15400" y="777240"/>
            <a:ext cx="2816352" cy="749808"/>
          </a:xfrm>
          <a:prstGeom prst="rect">
            <a:avLst/>
          </a:prstGeom>
          <a:solidFill>
            <a:srgbClr val="1E3A7A"/>
          </a:solidFill>
          <a:ln w="9525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25128" y="822960"/>
            <a:ext cx="25968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F96B3"/>
                </a:solidFill>
              </a:rPr>
              <a:t>Delivery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1005840"/>
            <a:ext cx="25968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F8EF7"/>
                </a:solidFill>
              </a:rPr>
              <a:t>MVP 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1700784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F96B3"/>
                </a:solidFill>
              </a:rPr>
              <a:t>KEY TAKEAWAYS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011680"/>
            <a:ext cx="2743200" cy="2103120"/>
          </a:xfrm>
          <a:prstGeom prst="rect">
            <a:avLst/>
          </a:prstGeom>
          <a:solidFill>
            <a:srgbClr val="1A1D27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2011680"/>
            <a:ext cx="2743200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" y="2121408"/>
            <a:ext cx="2487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On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" y="2468880"/>
            <a:ext cx="24871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F96B3"/>
                </a:solidFill>
              </a:rPr>
              <a:t>Actual spend of $1.45M is tracking below forecast. Remaining balance of $1.55M provides healthy fiscal buffer.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27248" y="2011680"/>
            <a:ext cx="2743200" cy="2103120"/>
          </a:xfrm>
          <a:prstGeom prst="rect">
            <a:avLst/>
          </a:prstGeom>
          <a:solidFill>
            <a:srgbClr val="1A1D27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27248" y="2011680"/>
            <a:ext cx="2743200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55264" y="2121408"/>
            <a:ext cx="2487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Delivery On Track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55264" y="2468880"/>
            <a:ext cx="24871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F96B3"/>
                </a:solidFill>
              </a:rPr>
              <a:t>Sprint 1 completed. Sprint 2 in progress. Core MVP capabilities on schedule for Groups 3–9.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80176" y="2011680"/>
            <a:ext cx="2743200" cy="2103120"/>
          </a:xfrm>
          <a:prstGeom prst="rect">
            <a:avLst/>
          </a:prstGeom>
          <a:solidFill>
            <a:srgbClr val="1A1D27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80176" y="2011680"/>
            <a:ext cx="274320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08192" y="2121408"/>
            <a:ext cx="2487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Quality Attention Needed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08192" y="2468880"/>
            <a:ext cx="24871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F96B3"/>
                </a:solidFill>
              </a:rPr>
              <a:t>Build/environment issues were encountered in Sprint 1. Tech Lead hiring in progress to prevent recurrence.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33104" y="2011680"/>
            <a:ext cx="2743200" cy="2103120"/>
          </a:xfrm>
          <a:prstGeom prst="rect">
            <a:avLst/>
          </a:prstGeom>
          <a:solidFill>
            <a:srgbClr val="1A1D27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833104" y="2011680"/>
            <a:ext cx="27432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0" y="2121408"/>
            <a:ext cx="2487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Decisions Pending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0" y="2468880"/>
            <a:ext cx="24871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F96B3"/>
                </a:solidFill>
              </a:rPr>
              <a:t>Workflow finalization and registration number automation require program decisions to maintain velocity.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4315968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F96B3"/>
                </a:solidFill>
              </a:rPr>
              <a:t>IMMEDIATE NEXT STEPS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608576"/>
            <a:ext cx="11612880" cy="347472"/>
          </a:xfrm>
          <a:prstGeom prst="rect">
            <a:avLst/>
          </a:prstGeom>
          <a:solidFill>
            <a:srgbClr val="22263A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84048" y="4700016"/>
            <a:ext cx="164592" cy="164592"/>
          </a:xfrm>
          <a:prstGeom prst="ellipse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466344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Complete Sprint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11880" y="466344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F8EF7"/>
                </a:solidFill>
              </a:rPr>
              <a:t>Jul 1–14,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4663440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F96B3"/>
                </a:solidFill>
              </a:rPr>
              <a:t>Enable customer notifications &amp; RHP Team inbox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992624"/>
            <a:ext cx="11612880" cy="347472"/>
          </a:xfrm>
          <a:prstGeom prst="rect">
            <a:avLst/>
          </a:prstGeom>
          <a:solidFill>
            <a:srgbClr val="1A1D27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84048" y="5084064"/>
            <a:ext cx="164592" cy="164592"/>
          </a:xfrm>
          <a:prstGeom prst="ellipse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4748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Finalize Workflow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11880" y="504748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F8EF7"/>
                </a:solidFill>
              </a:rPr>
              <a:t>Ongoing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13248" y="5047488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F96B3"/>
                </a:solidFill>
              </a:rPr>
              <a:t>Resolve non-ETS workflow with DoIT &amp; MDE teams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5376672"/>
            <a:ext cx="11612880" cy="347472"/>
          </a:xfrm>
          <a:prstGeom prst="rect">
            <a:avLst/>
          </a:prstGeom>
          <a:solidFill>
            <a:srgbClr val="22263A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84048" y="5468112"/>
            <a:ext cx="164592" cy="16459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543153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State Data Officer Input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11880" y="543153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</a:rPr>
              <a:t>Awaiting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13248" y="5431536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F96B3"/>
                </a:solidFill>
              </a:rPr>
              <a:t>Liability Check decision needed from Emil/Paul/DoIT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760720"/>
            <a:ext cx="11612880" cy="347472"/>
          </a:xfrm>
          <a:prstGeom prst="rect">
            <a:avLst/>
          </a:prstGeom>
          <a:solidFill>
            <a:srgbClr val="1A1D27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84048" y="5852159"/>
            <a:ext cx="164592" cy="164592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5815583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Hire Tech Lead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11880" y="5815583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2C55E"/>
                </a:solidFill>
              </a:rPr>
              <a:t>Active Recruiting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13248" y="5815583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F96B3"/>
                </a:solidFill>
              </a:rPr>
              <a:t>Address build/environment blockers proactively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6144768"/>
            <a:ext cx="11612880" cy="347472"/>
          </a:xfrm>
          <a:prstGeom prst="rect">
            <a:avLst/>
          </a:prstGeom>
          <a:solidFill>
            <a:srgbClr val="22263A"/>
          </a:solidFill>
          <a:ln w="9525">
            <a:solidFill>
              <a:srgbClr val="2E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84048" y="6236207"/>
            <a:ext cx="164592" cy="164592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6199631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User Testing Alignment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6199631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2C55E"/>
                </a:solidFill>
              </a:rPr>
              <a:t>Sprint 2–3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13248" y="6199631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F96B3"/>
                </a:solidFill>
              </a:rPr>
              <a:t>Coordinate with Paul to integrate testing into dev cycle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74320" y="6537960"/>
            <a:ext cx="11612880" cy="0"/>
          </a:xfrm>
          <a:prstGeom prst="line">
            <a:avLst/>
          </a:prstGeom>
          <a:ln w="6350">
            <a:solidFill>
              <a:srgbClr val="2E3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274320" y="6583680"/>
            <a:ext cx="11612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96B3"/>
                </a:solidFill>
              </a:rPr>
              <a:t>RHP Modernization Initiative  ·  MDE  ·  Prepared for Executive Review  ·  July 10,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